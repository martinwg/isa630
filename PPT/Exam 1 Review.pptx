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6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301" r:id="rId2"/>
    <p:sldId id="265" r:id="rId3"/>
    <p:sldId id="472" r:id="rId4"/>
    <p:sldId id="585" r:id="rId5"/>
    <p:sldId id="603" r:id="rId6"/>
    <p:sldId id="625" r:id="rId7"/>
    <p:sldId id="626" r:id="rId8"/>
    <p:sldId id="627" r:id="rId9"/>
    <p:sldId id="587" r:id="rId10"/>
    <p:sldId id="628" r:id="rId11"/>
    <p:sldId id="629" r:id="rId12"/>
    <p:sldId id="590" r:id="rId13"/>
    <p:sldId id="588" r:id="rId14"/>
    <p:sldId id="589" r:id="rId15"/>
    <p:sldId id="544" r:id="rId16"/>
    <p:sldId id="591" r:id="rId17"/>
    <p:sldId id="592" r:id="rId18"/>
    <p:sldId id="593" r:id="rId19"/>
    <p:sldId id="630" r:id="rId20"/>
    <p:sldId id="636" r:id="rId21"/>
    <p:sldId id="596" r:id="rId22"/>
    <p:sldId id="595" r:id="rId23"/>
    <p:sldId id="597" r:id="rId24"/>
    <p:sldId id="598" r:id="rId25"/>
    <p:sldId id="599" r:id="rId26"/>
    <p:sldId id="600" r:id="rId27"/>
    <p:sldId id="601" r:id="rId28"/>
    <p:sldId id="631" r:id="rId29"/>
    <p:sldId id="632" r:id="rId30"/>
    <p:sldId id="633" r:id="rId31"/>
    <p:sldId id="634" r:id="rId32"/>
    <p:sldId id="635" r:id="rId33"/>
  </p:sldIdLst>
  <p:sldSz cx="12192000" cy="6858000"/>
  <p:notesSz cx="6858000" cy="9144000"/>
  <p:embeddedFontLst>
    <p:embeddedFont>
      <p:font typeface="Cambria Math" panose="02040503050406030204" pitchFamily="18" charset="0"/>
      <p:regular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Lato Light" panose="020F0502020204030203" pitchFamily="34" charset="0"/>
      <p:regular r:id="rId40"/>
      <p:bold r:id="rId41"/>
      <p:italic r:id="rId42"/>
      <p:boldItalic r:id="rId43"/>
    </p:embeddedFont>
    <p:embeddedFont>
      <p:font typeface="Roboto Slab" pitchFamily="2" charset="0"/>
      <p:regular r:id="rId44"/>
      <p:bold r:id="rId45"/>
    </p:embeddedFont>
  </p:embeddedFontLst>
  <p:custDataLst>
    <p:tags r:id="rId4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h8+V1nZDCJuCgwzr3Qy4UygyyS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7C074C-A82D-4799-AD4D-ECD6B58B4DEF}">
  <a:tblStyle styleId="{947C074C-A82D-4799-AD4D-ECD6B58B4DEF}" styleName="Table_0">
    <a:wholeTbl>
      <a:tcTxStyle b="off" i="off">
        <a:font>
          <a:latin typeface="Lato Light"/>
          <a:ea typeface="Lato Light"/>
          <a:cs typeface="Lato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5E6E7"/>
          </a:solidFill>
        </a:fill>
      </a:tcStyle>
    </a:wholeTbl>
    <a:band1H>
      <a:tcTxStyle/>
      <a:tcStyle>
        <a:tcBdr/>
        <a:fill>
          <a:solidFill>
            <a:srgbClr val="EAC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AC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765" autoAdjust="0"/>
    <p:restoredTop sz="92606"/>
  </p:normalViewPr>
  <p:slideViewPr>
    <p:cSldViewPr snapToGrid="0">
      <p:cViewPr varScale="1">
        <p:scale>
          <a:sx n="89" d="100"/>
          <a:sy n="89" d="100"/>
        </p:scale>
        <p:origin x="192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69" Type="http://customschemas.google.com/relationships/presentationmetadata" Target="metadata"/><Relationship Id="rId8" Type="http://schemas.openxmlformats.org/officeDocument/2006/relationships/slide" Target="slides/slide7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section headers to chunk content in your presentation.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the same style of section header throughout your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407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567B5689-CF6E-272A-EC7B-2C217FEB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4B78B8FD-CF44-4C0A-F053-CE16A39B7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9E8C3ABE-460F-2E4C-85F1-AB2521E1A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8687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567B5689-CF6E-272A-EC7B-2C217FEB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4B78B8FD-CF44-4C0A-F053-CE16A39B7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9E8C3ABE-460F-2E4C-85F1-AB2521E1A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834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BF07564F-43D4-4E8F-922C-B9761ECE8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82A8E824-D501-768C-36E7-4B65F66A1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5FF3DC8A-5EC2-38B0-8EA7-8487A6350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7954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567B5689-CF6E-272A-EC7B-2C217FEB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4B78B8FD-CF44-4C0A-F053-CE16A39B7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9E8C3ABE-460F-2E4C-85F1-AB2521E1A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8687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" name="Google Shape;13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_White">
  <p:cSld name="6_Title Slide_Whit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4"/>
          <p:cNvSpPr txBox="1">
            <a:spLocks noGrp="1"/>
          </p:cNvSpPr>
          <p:nvPr>
            <p:ph type="ctrTitle"/>
          </p:nvPr>
        </p:nvSpPr>
        <p:spPr>
          <a:xfrm>
            <a:off x="1524000" y="2618133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4"/>
          <p:cNvSpPr txBox="1">
            <a:spLocks noGrp="1"/>
          </p:cNvSpPr>
          <p:nvPr>
            <p:ph type="subTitle" idx="1"/>
          </p:nvPr>
        </p:nvSpPr>
        <p:spPr>
          <a:xfrm>
            <a:off x="1524000" y="423505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0" name="Google Shape;60;p54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61" name="Google Shape;61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4092" y="1369995"/>
            <a:ext cx="1016000" cy="1109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_Red">
  <p:cSld name="2_Section Header_Red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4" name="Google Shape;144;p6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  <a:defRPr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6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2000"/>
              <a:buNone/>
              <a:defRPr sz="2000">
                <a:solidFill>
                  <a:srgbClr val="D5888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800"/>
              <a:buNone/>
              <a:defRPr sz="1800">
                <a:solidFill>
                  <a:srgbClr val="D5888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68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D883C-B967-84F5-34BE-A372B8FC92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57383D-E12B-2E66-23B9-0EE11B8436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3DD1A-760B-1E25-19F7-436EC8F47E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67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  <a:defRPr sz="44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9" name="Google Shape;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0" name="Google Shape;1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71" r:id="rId3"/>
    <p:sldLayoutId id="214748367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8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7.png"/><Relationship Id="rId5" Type="http://schemas.openxmlformats.org/officeDocument/2006/relationships/tags" Target="../tags/tag6.xml"/><Relationship Id="rId10" Type="http://schemas.openxmlformats.org/officeDocument/2006/relationships/image" Target="../media/image6.svg"/><Relationship Id="rId4" Type="http://schemas.openxmlformats.org/officeDocument/2006/relationships/tags" Target="../tags/tag5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1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2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8.sv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7.png"/><Relationship Id="rId5" Type="http://schemas.openxmlformats.org/officeDocument/2006/relationships/tags" Target="../tags/tag25.xml"/><Relationship Id="rId10" Type="http://schemas.openxmlformats.org/officeDocument/2006/relationships/image" Target="../media/image6.svg"/><Relationship Id="rId4" Type="http://schemas.openxmlformats.org/officeDocument/2006/relationships/tags" Target="../tags/tag24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3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3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6.sv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image" Target="../media/image8.sv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7.png"/><Relationship Id="rId5" Type="http://schemas.openxmlformats.org/officeDocument/2006/relationships/tags" Target="../tags/tag38.xml"/><Relationship Id="rId10" Type="http://schemas.openxmlformats.org/officeDocument/2006/relationships/image" Target="../media/image6.svg"/><Relationship Id="rId4" Type="http://schemas.openxmlformats.org/officeDocument/2006/relationships/tags" Target="../tags/tag37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8.sv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7.png"/><Relationship Id="rId5" Type="http://schemas.openxmlformats.org/officeDocument/2006/relationships/tags" Target="../tags/tag45.xml"/><Relationship Id="rId10" Type="http://schemas.openxmlformats.org/officeDocument/2006/relationships/image" Target="../media/image6.svg"/><Relationship Id="rId4" Type="http://schemas.openxmlformats.org/officeDocument/2006/relationships/tags" Target="../tags/tag44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image" Target="../media/image8.sv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7.png"/><Relationship Id="rId5" Type="http://schemas.openxmlformats.org/officeDocument/2006/relationships/tags" Target="../tags/tag52.xml"/><Relationship Id="rId10" Type="http://schemas.openxmlformats.org/officeDocument/2006/relationships/image" Target="../media/image6.svg"/><Relationship Id="rId4" Type="http://schemas.openxmlformats.org/officeDocument/2006/relationships/tags" Target="../tags/tag51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7.png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10.sv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9.png"/><Relationship Id="rId5" Type="http://schemas.openxmlformats.org/officeDocument/2006/relationships/tags" Target="../tags/tag59.xml"/><Relationship Id="rId10" Type="http://schemas.openxmlformats.org/officeDocument/2006/relationships/image" Target="../media/image6.svg"/><Relationship Id="rId4" Type="http://schemas.openxmlformats.org/officeDocument/2006/relationships/tags" Target="../tags/tag58.xml"/><Relationship Id="rId9" Type="http://schemas.openxmlformats.org/officeDocument/2006/relationships/image" Target="../media/image5.png"/><Relationship Id="rId1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image" Target="../media/image8.sv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7.png"/><Relationship Id="rId5" Type="http://schemas.openxmlformats.org/officeDocument/2006/relationships/tags" Target="../tags/tag66.xml"/><Relationship Id="rId10" Type="http://schemas.openxmlformats.org/officeDocument/2006/relationships/image" Target="../media/image6.svg"/><Relationship Id="rId4" Type="http://schemas.openxmlformats.org/officeDocument/2006/relationships/tags" Target="../tags/tag65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71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16.sv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7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7.png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image" Target="../media/image10.sv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9.png"/><Relationship Id="rId5" Type="http://schemas.openxmlformats.org/officeDocument/2006/relationships/tags" Target="../tags/tag79.xml"/><Relationship Id="rId10" Type="http://schemas.openxmlformats.org/officeDocument/2006/relationships/image" Target="../media/image6.svg"/><Relationship Id="rId4" Type="http://schemas.openxmlformats.org/officeDocument/2006/relationships/tags" Target="../tags/tag78.xml"/><Relationship Id="rId9" Type="http://schemas.openxmlformats.org/officeDocument/2006/relationships/image" Target="../media/image5.png"/><Relationship Id="rId1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7.png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10.sv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9.png"/><Relationship Id="rId5" Type="http://schemas.openxmlformats.org/officeDocument/2006/relationships/tags" Target="../tags/tag86.xml"/><Relationship Id="rId10" Type="http://schemas.openxmlformats.org/officeDocument/2006/relationships/image" Target="../media/image6.svg"/><Relationship Id="rId4" Type="http://schemas.openxmlformats.org/officeDocument/2006/relationships/tags" Target="../tags/tag85.xml"/><Relationship Id="rId9" Type="http://schemas.openxmlformats.org/officeDocument/2006/relationships/image" Target="../media/image5.png"/><Relationship Id="rId1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7.png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image" Target="../media/image10.sv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9.png"/><Relationship Id="rId5" Type="http://schemas.openxmlformats.org/officeDocument/2006/relationships/tags" Target="../tags/tag93.xml"/><Relationship Id="rId10" Type="http://schemas.openxmlformats.org/officeDocument/2006/relationships/image" Target="../media/image6.svg"/><Relationship Id="rId4" Type="http://schemas.openxmlformats.org/officeDocument/2006/relationships/tags" Target="../tags/tag92.xml"/><Relationship Id="rId9" Type="http://schemas.openxmlformats.org/officeDocument/2006/relationships/image" Target="../media/image5.png"/><Relationship Id="rId14" Type="http://schemas.openxmlformats.org/officeDocument/2006/relationships/image" Target="../media/image8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9.png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8.svg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../media/image7.png"/><Relationship Id="rId5" Type="http://schemas.openxmlformats.org/officeDocument/2006/relationships/tags" Target="../tags/tag100.xml"/><Relationship Id="rId10" Type="http://schemas.openxmlformats.org/officeDocument/2006/relationships/image" Target="../media/image6.svg"/><Relationship Id="rId4" Type="http://schemas.openxmlformats.org/officeDocument/2006/relationships/tags" Target="../tags/tag99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05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08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11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1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14.svg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</a:pPr>
            <a:r>
              <a:rPr lang="en-US" dirty="0"/>
              <a:t>Machine Learning</a:t>
            </a:r>
            <a:endParaRPr dirty="0"/>
          </a:p>
        </p:txBody>
      </p:sp>
      <p:sp>
        <p:nvSpPr>
          <p:cNvPr id="407" name="Google Shape;407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Exam 1 Review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D9405-87A7-F83C-5789-BC0A8AB5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998306"/>
            <a:ext cx="17145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9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>
            <a:spLocks noGrp="1"/>
          </p:cNvSpPr>
          <p:nvPr>
            <p:ph type="ctrTitle"/>
          </p:nvPr>
        </p:nvSpPr>
        <p:spPr>
          <a:xfrm>
            <a:off x="710020" y="2367077"/>
            <a:ext cx="11117179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Exam 1 Review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ED367C70-93A1-C689-B176-0BDECC15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31704299-37F4-1582-5E27-34A398B01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Classification</a:t>
            </a:r>
            <a:endParaRPr dirty="0"/>
          </a:p>
        </p:txBody>
      </p:sp>
      <p:sp>
        <p:nvSpPr>
          <p:cNvPr id="2" name="Google Shape;251;p1">
            <a:extLst>
              <a:ext uri="{FF2B5EF4-FFF2-40B4-BE49-F238E27FC236}">
                <a16:creationId xmlns:a16="http://schemas.microsoft.com/office/drawing/2014/main" id="{4FA8F7C2-691D-19BB-836B-3EFFE638C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1075633" cy="2602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Type of problem (binary, multi-class, multi-label)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Cost functions, loss functions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Metrics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Regularization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NN Output Activations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Gradient Descent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Learning rate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Convergence vs Divergence</a:t>
            </a:r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490046-9D09-1BFD-8DB1-4D18BBCE0FFE}"/>
              </a:ext>
            </a:extLst>
          </p:cNvPr>
          <p:cNvSpPr/>
          <p:nvPr/>
        </p:nvSpPr>
        <p:spPr>
          <a:xfrm>
            <a:off x="5544329" y="3949215"/>
            <a:ext cx="3356386" cy="34424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54CE6-1BBE-95D2-7C76-F56D6DC8D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496"/>
          <a:stretch/>
        </p:blipFill>
        <p:spPr>
          <a:xfrm>
            <a:off x="591064" y="4386649"/>
            <a:ext cx="5249845" cy="226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22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A72FFC0-9B6C-673E-B48A-40AC56A6B416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D31E07-DB11-3AD5-4649-21361DF786A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5B5B5B"/>
                </a:solidFill>
              </a:rPr>
              <a:t>A telecom company uses historical usage data to predict whether a specific customer will stay or cancel their subscription next month. What type of problem is this?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E0256A-B9C9-2F5F-4AC5-03AB5945563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C04A6AF-3537-AB34-F375-8764279ED71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BF60D6-507F-D6D9-0937-C443C82C535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FA1DFE-7846-AC69-C760-EB6AFBD24E2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64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673E60-1B1E-FBB9-09EA-87D2AED0FB9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27A03D-2335-7CD2-2639-90B782BA8CF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Which of the following best describes a loss function in machine learning?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1F60B7-1964-34F1-E759-4137EE802A12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4A3E899-EFAD-3ACE-0241-742876172A44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06974B1-9363-570A-4632-8D11B57E595D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D3B9E2C-8CD0-A467-DDF7-523E3AC02CBC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3860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059612-5802-D356-B96F-DD7B71A3FED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F9A5B3-0C30-0291-3BB3-C2C32D42B59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A Junior Analyst, "Sam," is tasked with building a model to predict whether a specific customer will stay or cancel their subscription next month. Sam uses a Large Language Model (AI) to generate the code and presents the following model to you for approval before deploying it to production. Do you consider this to be a: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C033E9-4C33-C73E-A428-8F81603B2C65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48725E0-D702-81A9-F221-DA88F0EC5E0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C36AE99B-9D49-AE56-8AA7-E77A30B0FCDF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0A53F7-BB58-653D-1740-ED9DF74F750B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239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29FEA8-38B9-3C1C-4CC3-7EEBE7E037D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46F5E3-FD01-801D-354E-347665A2C79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 In the provided code, the use of .toarray() to convert a sparse matrix into a dense matrix will reduce the total amount of memory (RAM) consumed by the computer because it simplifies the data structure into a standard array format.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601D10-6BCF-7AEF-13C4-A454E1B6C2D1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7BA16E8-8CB4-571C-D375-9A3E4B7E5942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13898AE-8D92-0D8E-84D9-E57ABC453FB4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B44E76-FC4C-58F6-C725-1E7E3522083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291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CAAF87-62A0-3693-636D-0DFFA3EAA5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002548-AA5D-28DC-BE9F-10ADB8B3627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is wrong with the configuration used by Sam?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F7B95F-78C5-B98C-0A50-3F1124B9B6F1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1A695A4-877F-EC7E-99AA-F8AC074512F6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9C41D46-DDF7-937C-99D2-95FEACB9509C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D2717E-8763-CDB7-2079-718FA402E5E7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689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3081597-FC53-D707-6718-EBC58CA987FA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D339CC-81A2-53CC-A2DF-31EADD622D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rgbClr val="5B5B5B"/>
                </a:solidFill>
              </a:rPr>
              <a:t>Which metric can you report for this problem?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BA9642-D1FB-3CD0-E49A-0A6B27C2337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A446D5D-4805-33FD-3B07-7E47DDB97A54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D6495E-1A0A-DA2B-22DC-F4C1B6AC2B7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950D1D-32CD-6883-A296-D00DF83B9C2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488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F52DE5-3EC0-476E-2CF8-172F521465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5DAC5E-2A8F-3AD3-7B30-2A344B81D08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Sam is training a neural network in TensorFlow for binary classification. He runs the code here. Is there anything wrong with the setup in the compile method?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DC12D0-199B-2B5D-D0EA-EB789A950812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FC9F870-7709-8004-A52A-DC3F1F99231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2DBD2AB6-497A-69B0-E6B4-887607A5CF41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E6CEB59-8873-090C-C9C3-528E4549ED59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563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9D0864-6CEA-F3CE-0659-E2F47F061CE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0C064-B249-4C9E-1515-DFD2A79E6D3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Sam got this error. Based on your knowledge of Matrix Algebra and the error message above, why is the code failing?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66AE32-F04D-41CC-0C9E-3DB936223F58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5739F42-F296-19ED-7EFF-05FC34D57A4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D8CD2453-07A5-695C-D047-742C38EC1BF3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F604B83-E59B-C52E-C4FE-CA9C1AB00177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374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021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EFAA705-7CCB-02C2-C620-58A3389F9D0D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697724-47D4-4909-466F-4AB3BF6D56C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5B5B5B"/>
                </a:solidFill>
              </a:rPr>
              <a:t>A churn prediction model outputs a probability of 0.85 that a customer will churn. The actual label is 1 (the customer churned). What is the binary cross-entropy loss for this single prediction?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0EBA18-E0BF-7AFE-B28C-44BA6D0DF6B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6A929F1-A970-7EC7-E5B5-07E865903BE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D4A132-8FDB-CB51-5310-3BEC3DB2AB6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5B3BA6-58E3-883B-A48A-A2B2FC90ABB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090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CF68068-69C7-B73A-D7EC-B78A0542DEB2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BB5AC6-7548-714A-2201-9B3C0A5B2C3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5B5B5B"/>
                </a:solidFill>
              </a:rPr>
              <a:t>You are given a model that predicts the probability of customer churn for four customers. The actual churn labels (1 = churn, 0 = no churn) and the model’s predicted probabilities are shown in the table below. What is the binary cross-entropy cost for this batch?</a:t>
            </a:r>
            <a:endParaRPr lang="en-US" sz="2400" b="1" dirty="0">
              <a:solidFill>
                <a:srgbClr val="5B5B5B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7F3D796-78BC-9214-BA56-C9745401330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636A2B5-BC79-1657-9511-A2E6B430E68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6D92B10-F528-0E40-E3DB-4E8D8EEF150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E13A2D-6E6C-95B9-01F1-C6C30F1131F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906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ED367C70-93A1-C689-B176-0BDECC15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31704299-37F4-1582-5E27-34A398B01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Gradient Descent Algorithm</a:t>
            </a:r>
            <a:endParaRPr dirty="0"/>
          </a:p>
        </p:txBody>
      </p:sp>
      <p:sp>
        <p:nvSpPr>
          <p:cNvPr id="2" name="Google Shape;251;p1">
            <a:extLst>
              <a:ext uri="{FF2B5EF4-FFF2-40B4-BE49-F238E27FC236}">
                <a16:creationId xmlns:a16="http://schemas.microsoft.com/office/drawing/2014/main" id="{4FA8F7C2-691D-19BB-836B-3EFFE638C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1075633" cy="496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Based on going in the direction of the decreasing gradient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5250CB3-0A89-4A14-8362-92EF1D35EC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340" t="83509" r="38000" b="1023"/>
          <a:stretch/>
        </p:blipFill>
        <p:spPr>
          <a:xfrm>
            <a:off x="990378" y="2355144"/>
            <a:ext cx="3695500" cy="6611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D0F4219-64B8-49FF-BEDC-D5DC21019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378" y="3402026"/>
            <a:ext cx="3356386" cy="1879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035966-F0F8-47C7-BABE-4B9303AADA97}"/>
                  </a:ext>
                </a:extLst>
              </p:cNvPr>
              <p:cNvSpPr txBox="1"/>
              <p:nvPr/>
            </p:nvSpPr>
            <p:spPr>
              <a:xfrm>
                <a:off x="3353007" y="3134227"/>
                <a:ext cx="6433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kern="12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+mn-cs"/>
                        </a:rPr>
                        <m:t>J</m:t>
                      </m:r>
                      <m:d>
                        <m:dPr>
                          <m:ctrlPr>
                            <a:rPr lang="en-US" sz="2400" b="0" i="1" kern="12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kern="120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w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035966-F0F8-47C7-BABE-4B9303AAD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007" y="3134227"/>
                <a:ext cx="643318" cy="461665"/>
              </a:xfrm>
              <a:prstGeom prst="rect">
                <a:avLst/>
              </a:prstGeom>
              <a:blipFill>
                <a:blip r:embed="rId5"/>
                <a:stretch>
                  <a:fillRect l="-6604" r="-94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89C0BB-06E7-40C1-B59D-D3FA5C07BF9A}"/>
              </a:ext>
            </a:extLst>
          </p:cNvPr>
          <p:cNvCxnSpPr/>
          <p:nvPr/>
        </p:nvCxnSpPr>
        <p:spPr>
          <a:xfrm flipH="1">
            <a:off x="2668571" y="3402026"/>
            <a:ext cx="706243" cy="3875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383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E623073-D280-C9B6-F1AD-FDD84623A1ED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B32286-296E-E9CD-5C73-BCA62C566FE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What is the most likely case given the learning curve given below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C669533-003B-6F2E-CF17-D3693B876BE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15C7EE5-DEC2-3111-172C-3E15458FFC9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49EBC8-64EB-8BCC-7F29-FBBA839564F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B02A933-1B56-5854-D081-C20C81DA4AA6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4599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5857DE-4677-BF4A-189F-CB27D188BE80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A21DEE2-82E0-08A5-838F-5ED1AA55A276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4F9AD9C-3B26-3920-4DC7-8604CA73C0E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rgbClr val="5B5B5B"/>
                </a:solidFill>
              </a:rPr>
              <a:t>What is the most likely case given the learning curve below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C5F597-1737-7554-3FDD-FB6D95C31F6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015B438-2309-1141-EBD9-663BC1FFB835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1156AC2-B2A7-DA41-53E2-20CB21F1F9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346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B4AD723-CED0-29B5-9E87-2A04D5B2F28C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509C96-95F0-70F9-2092-43E2CE6D80A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5B5B5B"/>
                </a:solidFill>
              </a:rPr>
              <a:t>What is the most likely case given the learning curve of the model fit by Sam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0F1ACF-1D28-132D-EC5F-49F787136F6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B4B4A41-0CA7-425A-5F9B-F37C1C2C122C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4095D60-B846-F48F-D9F7-BEE428F8DFD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74AD46-F358-8E35-68C9-AA1B050D7EA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434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D35653-54BE-88E9-CEDB-0CEF5434C1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D14692-6DF4-4FF4-D14B-9122DE12EA4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do you consider the main issue why this model is overfitting?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9869E-9A20-64AC-D044-8F25B60D97E7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C6D1427-633C-9FB5-A753-F3E79324C09F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954801B-4575-0820-413E-83B4387A7BCB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DD60F37-06E7-7E76-6135-C3C6F4B372B7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01188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B6B5A9-6E04-99DE-1E98-58EBB3B118B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C44215-C586-5A5C-026F-8A198241933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You are given a model that predicts the probability of customer churn for four customers. The actual churn labels (1 = churn, 0 = no churn). The cost function for binary crossentropy is 0.79.Suppose the model has the following three weights: w = [0.8, -0.3, 1.2], and the regularization parameter alpha = 0.1, what is the total cost: J(w) + alpha*||w||_1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B3E44-F1C5-B11E-9632-ABA71A4EA388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97C6975-0E77-C4B9-31CA-2204AF26CC0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BB3A0B8-5B56-B3A5-1E06-52A8D70F7CD7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F6F86E9-E1DD-B17E-6F24-C2D385402455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062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7B9165E1-CDD9-FECD-0E3D-9A4D9C8F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D975BFA0-FDFB-9ADA-5F58-C3A70910BE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Image Classification Example</a:t>
            </a:r>
            <a:endParaRPr dirty="0"/>
          </a:p>
        </p:txBody>
      </p:sp>
      <p:sp>
        <p:nvSpPr>
          <p:cNvPr id="2" name="Google Shape;251;p1">
            <a:extLst>
              <a:ext uri="{FF2B5EF4-FFF2-40B4-BE49-F238E27FC236}">
                <a16:creationId xmlns:a16="http://schemas.microsoft.com/office/drawing/2014/main" id="{5B21311D-E61D-DE38-295B-B8B0E593A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1075633" cy="496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1028" name="Picture 4" descr="Fashion-MNIST Dataset | Papers With Code">
            <a:extLst>
              <a:ext uri="{FF2B5EF4-FFF2-40B4-BE49-F238E27FC236}">
                <a16:creationId xmlns:a16="http://schemas.microsoft.com/office/drawing/2014/main" id="{07935CB7-7D3B-C5DE-3089-6BF133DC7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" y="1553528"/>
            <a:ext cx="4732972" cy="473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table with text on it&#10;&#10;AI-generated content may be incorrect.">
            <a:extLst>
              <a:ext uri="{FF2B5EF4-FFF2-40B4-BE49-F238E27FC236}">
                <a16:creationId xmlns:a16="http://schemas.microsoft.com/office/drawing/2014/main" id="{9C1435E5-A2DD-5C9C-13D3-3AEE48D81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016" y="1690688"/>
            <a:ext cx="44958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988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8DB8B03-4822-7B41-7AA0-D2F0FA6B10A6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EA1E659-E7A5-5916-27D2-2CF1DC4A51C7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8B23E6-7577-8604-C4EE-7B119A97C15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What type of problem is this?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4C505E-7160-79C9-C7AC-84B2FDC1996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43FB4EC-0D5D-5C8B-9A80-48EA6C8C11B3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9781B0-8E4C-CCBF-A2C0-457432EA571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124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008EBC4-86C2-45D2-9D38-261F4F2EE61C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E77268A-ADE6-69C4-49DD-D0E34AE39FF0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80858C-32FD-79CD-5019-C9C9342E29A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>
                <a:solidFill>
                  <a:srgbClr val="5B5B5B"/>
                </a:solidFill>
              </a:rPr>
              <a:t>What cost function(s) can we use?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3DBFD4-1AF0-0A2A-ED3B-F65A436C0F1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5453D0F-464E-1565-FE54-CC045E745D63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FB6E1E-EAF6-80E7-7644-E37F56F1C31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488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53DD-7C05-2333-5823-9BEE37E1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131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34C624C-0FB3-3BBF-7485-7A70ACD9D24F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4AC98D9-7671-A1E9-A6F3-680CF8A32EC6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DDB3AB-7165-68F2-388A-B42A711E012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5B5B5B"/>
                </a:solidFill>
              </a:rPr>
              <a:t>A Fashion MNIST model makes the following probability predictions for an image. The true class is “Sneaker” (Class 7).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53F31DF-B30B-0B14-F8B6-2FE22ABADA4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F0C1289-19C2-10D6-C6BC-E7018725693E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58FC9D-9382-8CED-A760-214887E4BE1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265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FF5F-99A5-C24B-123C-0C3FEDBE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64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0C9495B-8FAB-07A3-B46E-B3A8B337564D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CC575A-E813-2F41-9C8B-98ED5847694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5B5B5B"/>
                </a:solidFill>
              </a:rPr>
              <a:t>A Fashion MNIST model makes the following probability predictions for 4 images, with the actual class labels provided.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E584C9-7CA3-D2BF-6503-ACFE7D8B3D2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US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BF37CDF-C950-A27C-4B5F-D0DA56FCB84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EB18A24-7181-EAF7-0D0A-34946A3CFA9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US" sz="2200" b="1">
                <a:solidFill>
                  <a:srgbClr val="5B5B5B"/>
                </a:solidFill>
              </a:rPr>
              <a:t>ⓘ</a:t>
            </a:r>
            <a:r>
              <a:rPr lang="en-US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2EA897-9D42-27B1-3EFF-7B5D3DE88CC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573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ED367C70-93A1-C689-B176-0BDECC15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31704299-37F4-1582-5E27-34A398B01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Types of Classification Problems</a:t>
            </a:r>
            <a:endParaRPr dirty="0"/>
          </a:p>
        </p:txBody>
      </p:sp>
      <p:sp>
        <p:nvSpPr>
          <p:cNvPr id="2" name="Google Shape;251;p1">
            <a:extLst>
              <a:ext uri="{FF2B5EF4-FFF2-40B4-BE49-F238E27FC236}">
                <a16:creationId xmlns:a16="http://schemas.microsoft.com/office/drawing/2014/main" id="{4FA8F7C2-691D-19BB-836B-3EFFE638C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96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The 3 main classification problems are: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3" name="Picture 2" descr="A detailed case study on Multi-Label Classification with Machine Learning  algorithms and predicting movie tags based on plot summaries! | by Saugata  Paul | Medium">
            <a:extLst>
              <a:ext uri="{FF2B5EF4-FFF2-40B4-BE49-F238E27FC236}">
                <a16:creationId xmlns:a16="http://schemas.microsoft.com/office/drawing/2014/main" id="{AAD46BF7-9E6A-594A-BE86-3484135A8B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44"/>
          <a:stretch/>
        </p:blipFill>
        <p:spPr bwMode="auto">
          <a:xfrm>
            <a:off x="557048" y="2522483"/>
            <a:ext cx="7733914" cy="3846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C0533E-F75E-E662-9549-52B176BB421A}"/>
              </a:ext>
            </a:extLst>
          </p:cNvPr>
          <p:cNvSpPr/>
          <p:nvPr/>
        </p:nvSpPr>
        <p:spPr>
          <a:xfrm>
            <a:off x="5556359" y="2581826"/>
            <a:ext cx="2625616" cy="3728099"/>
          </a:xfrm>
          <a:prstGeom prst="rect">
            <a:avLst/>
          </a:prstGeom>
          <a:solidFill>
            <a:srgbClr val="9F0927">
              <a:alpha val="29000"/>
            </a:srgbClr>
          </a:solidFill>
          <a:ln w="9525" cap="flat" cmpd="sng" algn="ctr">
            <a:solidFill>
              <a:srgbClr val="006971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976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82D44C-13A6-6164-4912-3F20D0F2C28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560190-EF3B-00BC-F3F5-480398052F2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Which statement best describes multilabel classification?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98FDC5-B421-35BF-9989-DFD8796DE515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8B0938A-0844-0C5D-A31A-342E7815B4E1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0E7A7BA2-6D45-ED23-9009-B952DD2B4FB5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35F2771-4EB4-5C8A-A3A2-C821F01ADE7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5960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3650F6-8170-DA78-A08B-05773E29535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7D3D21-D641-E7DB-7962-BBF2067A99C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In a neural network for multilabel classification with 5 possible labels, which output layer is most appropriate?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0AFA36-8976-B85A-B501-98218865F9BC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E53B6F8-3DF5-0EA0-237F-2BAA8B146EC9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07E27EA-2639-5329-99EE-969C25063806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8B80C6D-F0EC-17F0-C113-96655AF1052C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155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447D64-CE1A-EC72-0B0A-65C71B945C3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BD93B-863D-87EE-D7B8-91A01DF67E5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A multilabel dataset has 200 observations and 7 possible labels. What is the correct shape of the target matrix 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F882CC-B93C-3BBC-611B-7F88EED54280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CA8ED74-A356-57E1-7E08-4CACF6F874C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863DDB7-463F-5665-DE38-71DC3C0DD12C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36E9EFF-DE1C-313F-D088-DB44AB756AC6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198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12C52-4D14-5922-0BC2-8A244CFC1B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069E16-06A5-43E6-3B5C-57F70E02FA8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Suppose the true labels for one observation are:
[1, 0, 1, 0]
and the predicted probabilities are:
[0.91, 0.35, 0.62, 0.80]
Using a threshold of 0.5, what is the predicted label vector?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4DC8A9-63FE-9184-C4BB-054562147A11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F69ED5B-6B3C-6A55-EF42-ECE9B4DB7A6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1BFC8BA-BF95-D07E-C206-4F1C52C5EE05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55A980A-02F0-1509-76F3-5D7C572ACFB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362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00000000-0000-0000-0000-000000000000"/>
  <p:tag name="SLIDO_EVENT_UUID" val="8aaba695-3df0-4ebf-b2b2-c5817819bbe5"/>
  <p:tag name="SLIDO_EVENT_SECTION_UUID" val="9b018056-5edb-4a15-9a9e-6b51c454aed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3cde847-c99c-4da2-814c-724cdaa127c5"/>
  <p:tag name="SLIDO_TIMELINE" val="W3sic2hvd1Jlc3VsdHMiOmZhbHNlLCJwb2xsUXVlc3Rpb25VdWlkIjoiMzU2MjY3NWQtNGE2Ni00MWE4LTk3MmYtNmFhZGY2NThkZjg1In0seyJzaG93UmVzdWx0cyI6dHJ1ZSwicG9sbFF1ZXN0aW9uVXVpZCI6IjM1NjI2NzVkLTRhNjYtNDFhOC05NzJmLTZhYWRmNjU4ZGY4NSJ9XQ=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99d4cd9a-4283-491c-ad36-7aac463f8c99"/>
  <p:tag name="SLIDO_TIMELINE" val="W3sicG9sbFF1ZXN0aW9uVXVpZCI6ImJkNDQzNzhiLWQ2MTgtNGRiOS04N2QzLThlZTcyMjYxMGM3MSIsInNob3dSZXN1bHRzIjp0cnVlfV0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a459699-4389-4ea7-8f3b-450a30be9214"/>
  <p:tag name="SLIDO_TIMELINE" val="W3sic2hvd1Jlc3VsdHMiOmZhbHNlLCJwb2xsUXVlc3Rpb25VdWlkIjoiYWU5ZGY2MWItZWJmMS00MTNiLWFjZWItZjVmOWExMWVmZDJhIn0seyJzaG93UmVzdWx0cyI6dHJ1ZSwicG9sbFF1ZXN0aW9uVXVpZCI6ImFlOWRmNjFiLWViZjEtNDEzYi1hY2ViLWY1ZjlhMTFlZmQyYSJ9XQ=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b8f6d0b-40fa-4ff0-ad43-9fba02e5922f"/>
  <p:tag name="SLIDO_TIMELINE" val="W3sic2hvd1Jlc3VsdHMiOmZhbHNlLCJwb2xsUXVlc3Rpb25VdWlkIjoiMDA5ODk3NDgtYWUwNC00OGYwLWI1NWQtMDJmZjFiMzIzOWFjIn0seyJzaG93UmVzdWx0cyI6dHJ1ZSwicG9sbFF1ZXN0aW9uVXVpZCI6IjAwOTg5NzQ4LWFlMDQtNDhmMC1iNTVkLTAyZmYxYjMyMzlhYyJ9XQ=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f3aa26c-7319-4d5a-ab21-0c0343b8cb47"/>
  <p:tag name="SLIDO_TIMELINE" val="W3sicG9sbFF1ZXN0aW9uVXVpZCI6IjYwZTYzMzFmLWYyNjItNGExYS05Y2M3LTcyMWJlMWQ0ODI4YSIsInNob3dSZXN1bHRzIjpmYWxzZX0seyJwb2xsUXVlc3Rpb25VdWlkIjoiNjBlNjMzMWYtZjI2Mi00YTFhLTljYzctNzIxYmUxZDQ4MjhhIiwic2hvd1Jlc3VsdHMiOnRydWV9XQ=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2d3cc02-1415-49d1-a0f4-c403da253136"/>
  <p:tag name="SLIDO_TIMELINE" val="W3sic2hvd1Jlc3VsdHMiOmZhbHNlLCJwb2xsUXVlc3Rpb25VdWlkIjoiOThlODZiZjYtMGNiMC00YTI2LTliMWUtNjYyZjBmY2Q2YjQ5In0seyJzaG93UmVzdWx0cyI6dHJ1ZSwicG9sbFF1ZXN0aW9uVXVpZCI6Ijk4ZTg2YmY2LTBjYjAtNGEyNi05YjFlLTY2MmYwZmNkNmI0OSJ9XQ=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59f30fc0-c0a1-4345-81dc-7e532c573d64"/>
  <p:tag name="SLIDO_TIMELINE" val="W3sic2hvd1Jlc3VsdHMiOmZhbHNlLCJwb2xsUXVlc3Rpb25VdWlkIjoiMjBhMWE1ZTQtMTcxMS00YjI4LWI3OTgtYzE4MjRlOTBjOWYxIn0seyJzaG93UmVzdWx0cyI6dHJ1ZSwicG9sbFF1ZXN0aW9uVXVpZCI6IjIwYTFhNWU0LTE3MTEtNGIyOC1iNzk4LWMxODI0ZTkwYzlmMSJ9XQ=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696f6a3-2eeb-4037-b537-7ca3c209c917"/>
  <p:tag name="SLIDO_TIMELINE" val="W3sic2hvd1Jlc3VsdHMiOmZhbHNlLCJwb2xsUXVlc3Rpb25VdWlkIjoiM2MzMTk1ZDQtZDQ4OC00NjBhLTg3NjktMTllMTdlYzViZTE3In0seyJzaG93UmVzdWx0cyI6dHJ1ZSwicG9sbFF1ZXN0aW9uVXVpZCI6IjNjMzE5NWQ0LWQ0ODgtNDYwYS04NzY5LTE5ZTE3ZWM1YmUxNyJ9XQ=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a9ccdfe8-78aa-4459-9de4-4b8490bd0fd1"/>
  <p:tag name="SLIDO_TIMELINE" val="W3sic2hvd1Jlc3VsdHMiOmZhbHNlLCJwb2xsUXVlc3Rpb25VdWlkIjoiY2JhMTc4YzAtN2FlYy00MjZjLWI1NmQtZGNiZWVjZjA5NTFjIn0seyJwb2xsUXVlc3Rpb25VdWlkIjoiY2JhMTc4YzAtN2FlYy00MjZjLWI1NmQtZGNiZWVjZjA5NTFjIiwic2hvd1Jlc3VsdHMiOnRydWV9XQ=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b43e2fe-4d09-4869-87bc-7619d7578c85"/>
  <p:tag name="SLIDO_TIMELINE" val="W3sicG9sbFF1ZXN0aW9uVXVpZCI6IjIzZDg4N2QwLTA4MzktNDRiZi04NDgzLTA1ZTQ1MDJhMWQ0ZSIsInNob3dSZXN1bHRzIjpmYWxzZX0seyJwb2xsUXVlc3Rpb25VdWlkIjoiMjNkODg3ZDAtMDgzOS00NGJmLTg0ODMtMDVlNDUwMmExZDRlIiwic2hvd1Jlc3VsdHMiOnRydWV9XQ=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b874859-054d-4b57-b905-90aa61e876c0"/>
  <p:tag name="SLIDO_TIMELINE" val="W3sic2hvd1Jlc3VsdHMiOmZhbHNlLCJwb2xsUXVlc3Rpb25VdWlkIjoiMjI1NGJmNjItMjljZi00NzhhLWI0ZWEtZmU3ZDhhM2I2OTE5In0seyJzaG93UmVzdWx0cyI6dHJ1ZSwicG9sbFF1ZXN0aW9uVXVpZCI6IjIyNTRiZjYyLTI5Y2YtNDc4YS1iNGVhLWZlN2Q4YTNiNjkxOSJ9XQ=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cdcfbed4-1802-4965-b777-71c3736c299f"/>
  <p:tag name="SLIDO_TIMELINE" val="W3sicG9sbFF1ZXN0aW9uVXVpZCI6IjlmYWFkMDBiLTA5Y2MtNDU4OS1hODhlLTc2NTNhZDQ1YzViYyIsInNob3dSZXN1bHRzIjpmYWxzZX0seyJwb2xsUXVlc3Rpb25VdWlkIjoiOWZhYWQwMGItMDljYy00NTg5LWE4OGUtNzY1M2FkNDVjNWJjIiwic2hvd1Jlc3VsdHMiOnRydWV9XQ=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ca2f5c6-4a59-47a1-810e-37eaa6fa8b34"/>
  <p:tag name="SLIDO_TIMELINE" val="W3sic2hvd1Jlc3VsdHMiOmZhbHNlLCJwb2xsUXVlc3Rpb25VdWlkIjoiMzAyMjMyMzctZDc2MS00ZTA1LTg2Y2EtMDU2MjlhMDlhNDFkIn0seyJzaG93UmVzdWx0cyI6dHJ1ZSwicG9sbFF1ZXN0aW9uVXVpZCI6IjMwMjIzMjM3LWQ3NjEtNGUwNS04NmNhLTA1NjI5YTA5YTQxZCJ9XQ=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19e3fc2-1daf-461d-973a-ce7c4f3c9113"/>
  <p:tag name="SLIDO_TIMELINE" val="W3sic2hvd1Jlc3VsdHMiOnRydWUsInBvbGxRdWVzdGlvblV1aWQiOiI3ODFiMzk1Ny0wY2ViLTQyZTAtYTk4Ni00NzhmZmJjY2E4MjQifV0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0a09f9b-aa1d-4e86-8161-83c04a610339"/>
  <p:tag name="SLIDO_TIMELINE" val="W3sicG9sbFF1ZXN0aW9uVXVpZCI6IjhkZWZlOTE5LWIwNjItNGNjOS05Yzk0LTRkOWViYTFhMDhiNSIsInNob3dSZXN1bHRzIjpmYWxzZX0seyJwb2xsUXVlc3Rpb25VdWlkIjoiOGRlZmU5MTktYjA2Mi00Y2M5LTljOTQtNGQ5ZWJhMWEwOGI1Iiwic2hvd1Jlc3VsdHMiOnRydWV9XQ=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077d2fe-b0be-44a0-aaed-c85ca3d12534"/>
  <p:tag name="SLIDO_TIMELINE" val="W3sic2hvd1Jlc3VsdHMiOmZhbHNlLCJwb2xsUXVlc3Rpb25VdWlkIjoiNmIxMzk4ZGUtOWZmOS00MjQ1LWI4NzUtZDRmODNkZTZhNzliIn0seyJzaG93UmVzdWx0cyI6dHJ1ZSwicG9sbFF1ZXN0aW9uVXVpZCI6IjZiMTM5OGRlLTlmZjktNDI0NS1iODc1LWQ0ZjgzZGU2YTc5YiJ9XQ=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7803ee2f-955e-44ca-8c6b-3fd228a5a445"/>
  <p:tag name="SLIDO_TIMELINE" val="W3sicG9sbFF1ZXN0aW9uVXVpZCI6Ijc2YWQzYTVmLWQ1MjMtNGM4OS1iN2YzLWJlZDQ0ZDU3YzFiOCIsInNob3dSZXN1bHRzIjpmYWxzZX0seyJwb2xsUXVlc3Rpb25VdWlkIjoiNzZhZDNhNWYtZDUyMy00Yzg5LWI3ZjMtYmVkNDRkNTdjMWI4Iiwic2hvd1Jlc3VsdHMiOnRydWV9XQ=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56d43a7-86ba-446b-b576-1ae38c06cd6d"/>
  <p:tag name="SLIDO_TIMELINE" val="W3sic2hvd1Jlc3VsdHMiOmZhbHNlLCJwb2xsUXVlc3Rpb25VdWlkIjoiYzIyYzgyZmEtMWRkNC00YzFlLWI0ZjItNTUyZTUyZDEwZDQxIn0seyJzaG93UmVzdWx0cyI6dHJ1ZSwicG9sbFF1ZXN0aW9uVXVpZCI6ImMyMmM4MmZhLTFkZDQtNGMxZS1iNGYyLTU1MmU1MmQxMGQ0MSJ9XQ=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c683ce5f-849e-42d9-ba1d-db6b4f09ff64"/>
  <p:tag name="SLIDO_TIMELINE" val="W3sic2hvd1Jlc3VsdHMiOmZhbHNlLCJwb2xsUXVlc3Rpb25VdWlkIjoiNjUwYTI2MGEtNDdkZi00MDRlLTk2OTUtNGU2NzNlMmY5NWY0In0seyJzaG93UmVzdWx0cyI6dHJ1ZSwicG9sbFF1ZXN0aW9uVXVpZCI6IjY1MGEyNjBhLTQ3ZGYtNDA0ZS05Njk1LTRlNjczZTJmOTVmNCJ9XQ=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dce36016-a2df-4d5b-910e-49f65c65529c"/>
  <p:tag name="SLIDO_TIMELINE" val="W3sic2hvd1Jlc3VsdHMiOmZhbHNlLCJwb2xsUXVlc3Rpb25VdWlkIjoiZDY4ZGJkZDctYjkxYS00ZDliLTk2NDYtNWUwZWEzZTE2MWJmIn0seyJzaG93UmVzdWx0cyI6dHJ1ZSwicG9sbFF1ZXN0aW9uVXVpZCI6ImQ2OGRiZGQ3LWI5MWEtNGQ5Yi05NjQ2LTVlMGVhM2UxNjFiZiJ9XQ=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a9749ef-e073-4379-ae24-b18497b76b7b"/>
  <p:tag name="SLIDO_TIMELINE" val="W3sicG9sbFF1ZXN0aW9uVXVpZCI6IjMyOWVlMGZkLTRlMzYtNGU1Yy04ZmJlLTZkMDI4MmE4NGMzMiIsInNob3dSZXN1bHRzIjpmYWxzZX0seyJwb2xsUXVlc3Rpb25VdWlkIjoiMzI5ZWUwZmQtNGUzNi00ZTVjLThmYmUtNmQwMjgyYTg0YzMyIiwic2hvd1Jlc3VsdHMiOnRydWV9XQ=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c2e89a7-2a04-4cc7-a39b-d89f6c2d8fe1"/>
  <p:tag name="SLIDO_TIMELINE" val="W3sicG9sbFF1ZXN0aW9uVXVpZCI6IjA0MmJkYzQ2LWI2ZDUtNGJiNC05ZTMyLWVlOThiYTRiYWEwMCIsInNob3dSZXN1bHRzIjpmYWxzZX0seyJzaG93UmVzdWx0cyI6dHJ1ZSwicG9sbFF1ZXN0aW9uVXVpZCI6IjA0MmJkYzQ2LWI2ZDUtNGJiNC05ZTMyLWVlOThiYTRiYWEwMCJ9XQ==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10418510-b2a2-498f-91d9-a359e28dbae4"/>
  <p:tag name="SLIDO_TIMELINE" val="W3sicG9sbFF1ZXN0aW9uVXVpZCI6ImQwYWQ0ZWM5LWE2NjMtNDYzOS1iNThkLTQ3ZGU1ZTM5ZDllMiIsInNob3dSZXN1bHRzIjpmYWxzZX0seyJzaG93UmVzdWx0cyI6dHJ1ZSwicG9sbFF1ZXN0aW9uVXVpZCI6ImQwYWQ0ZWM5LWE2NjMtNDYzOS1iNThkLTQ3ZGU1ZTM5ZDllMiJ9XQ=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C41230"/>
      </a:dk1>
      <a:lt1>
        <a:srgbClr val="FAF9F7"/>
      </a:lt1>
      <a:dk2>
        <a:srgbClr val="C41230"/>
      </a:dk2>
      <a:lt2>
        <a:srgbClr val="FAF9F7"/>
      </a:lt2>
      <a:accent1>
        <a:srgbClr val="ECEDE2"/>
      </a:accent1>
      <a:accent2>
        <a:srgbClr val="941728"/>
      </a:accent2>
      <a:accent3>
        <a:srgbClr val="007B89"/>
      </a:accent3>
      <a:accent4>
        <a:srgbClr val="000000"/>
      </a:accent4>
      <a:accent5>
        <a:srgbClr val="262626"/>
      </a:accent5>
      <a:accent6>
        <a:srgbClr val="FFFFFF"/>
      </a:accent6>
      <a:hlink>
        <a:srgbClr val="007B89"/>
      </a:hlink>
      <a:folHlink>
        <a:srgbClr val="9417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26187</TotalTime>
  <Words>1294</Words>
  <Application>Microsoft Macintosh PowerPoint</Application>
  <PresentationFormat>Widescreen</PresentationFormat>
  <Paragraphs>142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Cambria Math</vt:lpstr>
      <vt:lpstr>Lato</vt:lpstr>
      <vt:lpstr>Wingdings</vt:lpstr>
      <vt:lpstr>Roboto Slab</vt:lpstr>
      <vt:lpstr>Lato Light</vt:lpstr>
      <vt:lpstr>Office Theme</vt:lpstr>
      <vt:lpstr>Machine Learning</vt:lpstr>
      <vt:lpstr>Exam 1 Review</vt:lpstr>
      <vt:lpstr>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Descent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 Classification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Classification Problems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</dc:title>
  <dc:creator>Orians, A.J.</dc:creator>
  <cp:lastModifiedBy>Martinez, Waldyn Gerardo</cp:lastModifiedBy>
  <cp:revision>194</cp:revision>
  <dcterms:modified xsi:type="dcterms:W3CDTF">2026-03-16T14:07:31Z</dcterms:modified>
</cp:coreProperties>
</file>