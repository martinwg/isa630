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301" r:id="rId2"/>
    <p:sldId id="265" r:id="rId3"/>
    <p:sldId id="329" r:id="rId4"/>
    <p:sldId id="257" r:id="rId5"/>
    <p:sldId id="360" r:id="rId6"/>
    <p:sldId id="384" r:id="rId7"/>
    <p:sldId id="385" r:id="rId8"/>
    <p:sldId id="386" r:id="rId9"/>
    <p:sldId id="307" r:id="rId10"/>
    <p:sldId id="361" r:id="rId11"/>
    <p:sldId id="387" r:id="rId12"/>
    <p:sldId id="388" r:id="rId13"/>
    <p:sldId id="389" r:id="rId14"/>
    <p:sldId id="390" r:id="rId15"/>
  </p:sldIdLst>
  <p:sldSz cx="12192000" cy="6858000"/>
  <p:notesSz cx="6858000" cy="9144000"/>
  <p:embeddedFontLst>
    <p:embeddedFont>
      <p:font typeface="Cambria Math" panose="02040503050406030204" pitchFamily="18" charset="0"/>
      <p:regular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Lato Light" panose="020F0502020204030203" pitchFamily="34" charset="0"/>
      <p:regular r:id="rId22"/>
      <p:bold r:id="rId23"/>
      <p:italic r:id="rId24"/>
      <p:boldItalic r:id="rId25"/>
    </p:embeddedFont>
    <p:embeddedFont>
      <p:font typeface="Roboto Slab" pitchFamily="2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1" roundtripDataSignature="AMtx7mh8+V1nZDCJuCgwzr3Qy4UygyyS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47C074C-A82D-4799-AD4D-ECD6B58B4DEF}">
  <a:tblStyle styleId="{947C074C-A82D-4799-AD4D-ECD6B58B4DEF}" styleName="Table_0">
    <a:wholeTbl>
      <a:tcTxStyle b="off" i="off">
        <a:font>
          <a:latin typeface="Lato Light"/>
          <a:ea typeface="Lato Light"/>
          <a:cs typeface="Lato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5E6E7"/>
          </a:solidFill>
        </a:fill>
      </a:tcStyle>
    </a:wholeTbl>
    <a:band1H>
      <a:tcTxStyle/>
      <a:tcStyle>
        <a:tcBdr/>
        <a:fill>
          <a:solidFill>
            <a:srgbClr val="EAC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AC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69" d="100"/>
          <a:sy n="69" d="100"/>
        </p:scale>
        <p:origin x="232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61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6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section headers to chunk content in your presentation.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the same style of section header throughout your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0407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Guidelines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Use a title slide at the beginning of your presentation. There are 9 variations of title slides to choose from. 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If you will have a series of slideshows, we recommend using the same style of title slide for each presentation.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Keep your title to no more than 2 lines.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/>
              <a:t>Do not change the font style or font size of the title or subtitle.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0246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659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8761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0096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2012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9890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8655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5445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9132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6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" name="Google Shape;13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_White">
  <p:cSld name="6_Title Slide_Whit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4"/>
          <p:cNvSpPr txBox="1">
            <a:spLocks noGrp="1"/>
          </p:cNvSpPr>
          <p:nvPr>
            <p:ph type="ctrTitle"/>
          </p:nvPr>
        </p:nvSpPr>
        <p:spPr>
          <a:xfrm>
            <a:off x="1524000" y="2618133"/>
            <a:ext cx="9144000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  <a:defRPr sz="4800" b="0"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4"/>
          <p:cNvSpPr txBox="1">
            <a:spLocks noGrp="1"/>
          </p:cNvSpPr>
          <p:nvPr>
            <p:ph type="subTitle" idx="1"/>
          </p:nvPr>
        </p:nvSpPr>
        <p:spPr>
          <a:xfrm>
            <a:off x="1524000" y="423505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0" name="Google Shape;60;p54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61" name="Google Shape;61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4092" y="1369995"/>
            <a:ext cx="1016000" cy="1109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_Red">
  <p:cSld name="2_Section Header_Red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4" name="Google Shape;144;p6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Roboto Slab"/>
              <a:buNone/>
              <a:defRPr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6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2000"/>
              <a:buNone/>
              <a:defRPr sz="2000">
                <a:solidFill>
                  <a:srgbClr val="D5888C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800"/>
              <a:buNone/>
              <a:defRPr sz="1800">
                <a:solidFill>
                  <a:srgbClr val="D5888C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888C"/>
              </a:buClr>
              <a:buSzPts val="1600"/>
              <a:buNone/>
              <a:defRPr sz="1600">
                <a:solidFill>
                  <a:srgbClr val="D5888C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68"/>
          <p:cNvSpPr/>
          <p:nvPr/>
        </p:nvSpPr>
        <p:spPr>
          <a:xfrm>
            <a:off x="156308" y="164123"/>
            <a:ext cx="11871569" cy="6557352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_Red">
  <p:cSld name="3_Title Only_Red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30" name="Google Shape;230;p8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Roboto Slab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05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  <a:defRPr sz="44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" name="Google Shape;8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9" name="Google Shape;9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0" name="Google Shape;10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71" r:id="rId3"/>
    <p:sldLayoutId id="214748367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Font typeface="Roboto Slab"/>
              <a:buNone/>
            </a:pPr>
            <a:r>
              <a:rPr lang="en-US" dirty="0"/>
              <a:t>Module 0</a:t>
            </a:r>
            <a:endParaRPr dirty="0"/>
          </a:p>
        </p:txBody>
      </p:sp>
      <p:sp>
        <p:nvSpPr>
          <p:cNvPr id="407" name="Google Shape;407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Python Programming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FD9405-87A7-F83C-5789-BC0A8AB58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998306"/>
            <a:ext cx="17145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92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 txBox="1">
            <a:spLocks noGrp="1"/>
          </p:cNvSpPr>
          <p:nvPr>
            <p:ph type="ctrTitle"/>
          </p:nvPr>
        </p:nvSpPr>
        <p:spPr>
          <a:xfrm>
            <a:off x="1524000" y="2095336"/>
            <a:ext cx="9144000" cy="1501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 Slab"/>
              <a:buNone/>
            </a:pPr>
            <a:r>
              <a:rPr lang="en-US" dirty="0"/>
              <a:t>Python Basics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848720-8D3B-4682-956A-3F43CEB08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833" y="3213717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Objects and Classes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838199" y="1523785"/>
            <a:ext cx="1107563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sz="2500" dirty="0"/>
              <a:t>Objects are encapsulations of variables and functions into single entity</a:t>
            </a:r>
          </a:p>
          <a:p>
            <a:pPr lvl="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sz="2500" dirty="0"/>
              <a:t>Classes provide a way to group information into a single unit </a:t>
            </a:r>
          </a:p>
          <a:p>
            <a:pPr lvl="1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§"/>
            </a:pPr>
            <a:r>
              <a:rPr lang="en-US" sz="2500" dirty="0"/>
              <a:t>Can combine multiple attributes into a single object</a:t>
            </a:r>
            <a:endParaRPr lang="en-US" sz="2500" dirty="0">
              <a:solidFill>
                <a:srgbClr val="212121"/>
              </a:solidFill>
              <a:latin typeface="Courier New" panose="02070309020205020404" pitchFamily="49" charset="0"/>
              <a:cs typeface="Arial"/>
              <a:sym typeface="Arial"/>
            </a:endParaRPr>
          </a:p>
          <a:p>
            <a:pPr lvl="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sz="2500" dirty="0"/>
              <a:t>Classes contain methods (</a:t>
            </a:r>
            <a:r>
              <a:rPr lang="en-US" sz="2500" b="1" dirty="0">
                <a:solidFill>
                  <a:schemeClr val="bg1">
                    <a:lumMod val="10000"/>
                  </a:schemeClr>
                </a:solidFill>
              </a:rPr>
              <a:t>functions</a:t>
            </a:r>
            <a:r>
              <a:rPr lang="en-US" sz="2500" dirty="0"/>
              <a:t>) and attributes (</a:t>
            </a:r>
            <a:r>
              <a:rPr lang="en-US" sz="2500" b="1" dirty="0">
                <a:solidFill>
                  <a:schemeClr val="bg1">
                    <a:lumMod val="10000"/>
                  </a:schemeClr>
                </a:solidFill>
              </a:rPr>
              <a:t>values</a:t>
            </a:r>
            <a:r>
              <a:rPr lang="en-US" sz="2500" dirty="0"/>
              <a:t>)</a:t>
            </a:r>
            <a:endParaRPr lang="en-US" sz="2500" dirty="0">
              <a:solidFill>
                <a:srgbClr val="212121"/>
              </a:solidFill>
              <a:latin typeface="Courier New" panose="02070309020205020404" pitchFamily="49" charset="0"/>
              <a:cs typeface="Arial"/>
              <a:sym typeface="Arial"/>
            </a:endParaRPr>
          </a:p>
          <a:p>
            <a:pPr marL="0" indent="0">
              <a:buSzPts val="2800"/>
              <a:buNone/>
            </a:pPr>
            <a:endParaRPr lang="en-US" sz="2500" dirty="0"/>
          </a:p>
          <a:p>
            <a:pPr marL="457200" lvl="1" indent="0">
              <a:buSzPts val="2800"/>
              <a:buNone/>
            </a:pPr>
            <a:endParaRPr lang="en-US" sz="2500" dirty="0"/>
          </a:p>
          <a:p>
            <a:pPr marL="457200" lvl="1" indent="0">
              <a:buSzPts val="2800"/>
              <a:buNone/>
            </a:pPr>
            <a:endParaRPr lang="en-US" sz="2500" dirty="0"/>
          </a:p>
        </p:txBody>
      </p:sp>
      <p:pic>
        <p:nvPicPr>
          <p:cNvPr id="2" name="Picture 2" descr="Object-Oriented Programming (OOP) - MiltonMarketing.com">
            <a:extLst>
              <a:ext uri="{FF2B5EF4-FFF2-40B4-BE49-F238E27FC236}">
                <a16:creationId xmlns:a16="http://schemas.microsoft.com/office/drawing/2014/main" id="{2B443FE0-9F9D-406F-A7EF-FBA34B67F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788" y="3231046"/>
            <a:ext cx="3873761" cy="30796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193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Example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838200" y="151454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Class Car</a:t>
            </a:r>
          </a:p>
          <a:p>
            <a:pPr marL="342900">
              <a:buSzPts val="2800"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78AB4-F8AC-4A09-99B2-6430AEDE0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955" y="2138038"/>
            <a:ext cx="6649808" cy="38447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2" descr="Object-Oriented Programming (OOP) - MiltonMarketing.com">
            <a:extLst>
              <a:ext uri="{FF2B5EF4-FFF2-40B4-BE49-F238E27FC236}">
                <a16:creationId xmlns:a16="http://schemas.microsoft.com/office/drawing/2014/main" id="{3003ADC4-14B8-4D73-9874-FB108332E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2138038"/>
            <a:ext cx="2991444" cy="23781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Attributes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838200" y="151454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Characteristics that can be accessed from other objects</a:t>
            </a:r>
          </a:p>
          <a:p>
            <a:pPr lvl="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Can be mutable or immutable</a:t>
            </a:r>
          </a:p>
          <a:p>
            <a:pPr marL="342900">
              <a:buSzPts val="2800"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C91C3D-FFDC-48F3-8BB0-C4E12D6EA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29" y="2644793"/>
            <a:ext cx="6667341" cy="18183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4127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Making an Instance (Instantiate)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838200" y="151454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Creating an instance object from the class</a:t>
            </a:r>
          </a:p>
          <a:p>
            <a:pPr marL="342900">
              <a:buSzPts val="2800"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C91C3D-FFDC-48F3-8BB0-C4E12D6EA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17" y="2209788"/>
            <a:ext cx="6667341" cy="18183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D99EA0-B36E-4CBB-ACFB-5401485EA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617" y="4194118"/>
            <a:ext cx="6667341" cy="9213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A6B924-7EE2-42CD-AC1B-FC79D5BD8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617" y="5251227"/>
            <a:ext cx="6667341" cy="11395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5926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Methods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838200" y="151454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Enable classes to implement functions</a:t>
            </a:r>
          </a:p>
          <a:p>
            <a:pPr marL="342900">
              <a:buSzPts val="2800"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937128-170C-41BB-9D35-E96E01BF8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16" y="2055168"/>
            <a:ext cx="6667341" cy="27154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4B51E3-D3FF-4F86-9492-35D45D693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616" y="5141978"/>
            <a:ext cx="6667341" cy="9213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2793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Methods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838200" y="151454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Calling a method bound to the class</a:t>
            </a:r>
          </a:p>
          <a:p>
            <a:pPr marL="342900">
              <a:buSzPts val="2800"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4B51E3-D3FF-4F86-9492-35D45D693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72" y="2247857"/>
            <a:ext cx="6667341" cy="9213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2609E9-8FE1-4BA1-927B-EB20959F4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472" y="3594677"/>
            <a:ext cx="6667341" cy="9213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8D3F46-581B-448A-92D4-84C7EB11E683}"/>
              </a:ext>
            </a:extLst>
          </p:cNvPr>
          <p:cNvSpPr txBox="1"/>
          <p:nvPr/>
        </p:nvSpPr>
        <p:spPr>
          <a:xfrm>
            <a:off x="942472" y="4638938"/>
            <a:ext cx="6094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3.0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9D8FCF-A6B6-4FF7-B6F4-DC62EC81DA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472" y="5093026"/>
            <a:ext cx="6667341" cy="9213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6C1C65B-C272-42B4-B224-C36E97B5A7D5}"/>
              </a:ext>
            </a:extLst>
          </p:cNvPr>
          <p:cNvSpPr txBox="1"/>
          <p:nvPr/>
        </p:nvSpPr>
        <p:spPr>
          <a:xfrm>
            <a:off x="942472" y="6120488"/>
            <a:ext cx="6094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2.0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43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1"/>
          <p:cNvSpPr txBox="1">
            <a:spLocks noGrp="1"/>
          </p:cNvSpPr>
          <p:nvPr>
            <p:ph type="title"/>
          </p:nvPr>
        </p:nvSpPr>
        <p:spPr>
          <a:xfrm>
            <a:off x="4207422" y="427269"/>
            <a:ext cx="5562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Roboto Slab"/>
              <a:buNone/>
            </a:pPr>
            <a:r>
              <a:rPr lang="en-US" sz="6600" dirty="0"/>
              <a:t>Practice</a:t>
            </a:r>
            <a:endParaRPr sz="6600" dirty="0"/>
          </a:p>
        </p:txBody>
      </p:sp>
      <p:grpSp>
        <p:nvGrpSpPr>
          <p:cNvPr id="541" name="Google Shape;541;p41"/>
          <p:cNvGrpSpPr/>
          <p:nvPr/>
        </p:nvGrpSpPr>
        <p:grpSpPr>
          <a:xfrm>
            <a:off x="3831049" y="2162059"/>
            <a:ext cx="4087832" cy="4007922"/>
            <a:chOff x="1477720" y="2232660"/>
            <a:chExt cx="2392680" cy="2392680"/>
          </a:xfrm>
        </p:grpSpPr>
        <p:pic>
          <p:nvPicPr>
            <p:cNvPr id="542" name="Google Shape;542;p41" descr="Bullsey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20520" y="2675320"/>
              <a:ext cx="1523440" cy="15234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41"/>
            <p:cNvSpPr/>
            <p:nvPr/>
          </p:nvSpPr>
          <p:spPr>
            <a:xfrm>
              <a:off x="1477720" y="2232660"/>
              <a:ext cx="2392680" cy="2392680"/>
            </a:xfrm>
            <a:prstGeom prst="ellipse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3992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Linear Regression Example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838200" y="151454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We minimize the sum of squared errors (SSE).</a:t>
            </a:r>
          </a:p>
          <a:p>
            <a:pPr marL="457200" lvl="1" indent="0"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1D85757-7347-44D6-AEA8-0BB34261FCB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02" y="2129531"/>
            <a:ext cx="6436312" cy="4290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131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Linear Regression Example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Google Shape;251;p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354741"/>
                <a:ext cx="105156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lvl="0" indent="-457200">
                  <a:spcBef>
                    <a:spcPts val="0"/>
                  </a:spcBef>
                  <a:buSzPts val="2800"/>
                  <a:buFont typeface="Wingdings" panose="05000000000000000000" pitchFamily="2" charset="2"/>
                  <a:buChar char="q"/>
                </a:pPr>
                <a:r>
                  <a:rPr lang="en-US" dirty="0"/>
                  <a:t>The vector of estimates can be fit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⊤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−1 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indent="-457200">
                  <a:spcBef>
                    <a:spcPts val="0"/>
                  </a:spcBef>
                  <a:buSzPts val="2800"/>
                  <a:buFont typeface="Wingdings" panose="05000000000000000000" pitchFamily="2" charset="2"/>
                  <a:buChar char="q"/>
                </a:pPr>
                <a:r>
                  <a:rPr lang="en-US" dirty="0"/>
                  <a:t>The predictions can be obtained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endParaRPr lang="en-US" dirty="0"/>
              </a:p>
              <a:p>
                <a:pPr lvl="0" indent="-457200">
                  <a:spcBef>
                    <a:spcPts val="0"/>
                  </a:spcBef>
                  <a:buSzPts val="2800"/>
                  <a:buFont typeface="Wingdings" panose="05000000000000000000" pitchFamily="2" charset="2"/>
                  <a:buChar char="q"/>
                </a:pPr>
                <a:endParaRPr lang="en-US" dirty="0"/>
              </a:p>
              <a:p>
                <a:pPr marL="342900">
                  <a:buSzPts val="2800"/>
                </a:pPr>
                <a:endParaRPr lang="en-US" dirty="0"/>
              </a:p>
              <a:p>
                <a:pPr marL="457200" lvl="1" indent="0">
                  <a:buSzPts val="2800"/>
                  <a:buNone/>
                </a:pPr>
                <a:endParaRPr lang="en-US" dirty="0"/>
              </a:p>
              <a:p>
                <a:pPr marL="457200" lvl="1" indent="0">
                  <a:buSzPts val="280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51" name="Google Shape;251;p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354741"/>
                <a:ext cx="10515600" cy="4351338"/>
              </a:xfrm>
              <a:prstGeom prst="rect">
                <a:avLst/>
              </a:prstGeom>
              <a:blipFill>
                <a:blip r:embed="rId3"/>
                <a:stretch>
                  <a:fillRect l="-1043" t="-21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r - scatterplot3d: regression plane with residuals - Stack Overflow">
            <a:extLst>
              <a:ext uri="{FF2B5EF4-FFF2-40B4-BE49-F238E27FC236}">
                <a16:creationId xmlns:a16="http://schemas.microsoft.com/office/drawing/2014/main" id="{0CFAA643-FB72-4FA9-B025-893650D9BF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06"/>
          <a:stretch/>
        </p:blipFill>
        <p:spPr bwMode="auto">
          <a:xfrm>
            <a:off x="875231" y="2574524"/>
            <a:ext cx="5548457" cy="3607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442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Linear Regression Example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838200" y="135474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Class implementation</a:t>
            </a:r>
          </a:p>
          <a:p>
            <a:pPr marL="342900">
              <a:buSzPts val="2800"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3FA12-2155-4580-8A08-EE0072E7A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20" y="1867113"/>
            <a:ext cx="7119893" cy="48285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8315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Slab"/>
              <a:buNone/>
            </a:pPr>
            <a:r>
              <a:rPr lang="en-US" dirty="0"/>
              <a:t>Linear Regression Example</a:t>
            </a:r>
            <a:endParaRPr dirty="0"/>
          </a:p>
        </p:txBody>
      </p:sp>
      <p:sp>
        <p:nvSpPr>
          <p:cNvPr id="251" name="Google Shape;251;p1"/>
          <p:cNvSpPr txBox="1">
            <a:spLocks noGrp="1"/>
          </p:cNvSpPr>
          <p:nvPr>
            <p:ph type="body" idx="1"/>
          </p:nvPr>
        </p:nvSpPr>
        <p:spPr>
          <a:xfrm>
            <a:off x="838200" y="135474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>
              <a:spcBef>
                <a:spcPts val="0"/>
              </a:spcBef>
              <a:buSzPts val="2800"/>
              <a:buFont typeface="Wingdings" panose="05000000000000000000" pitchFamily="2" charset="2"/>
              <a:buChar char="q"/>
            </a:pPr>
            <a:r>
              <a:rPr lang="en-US" dirty="0"/>
              <a:t>Class implementation</a:t>
            </a:r>
          </a:p>
          <a:p>
            <a:pPr marL="342900">
              <a:buSzPts val="2800"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  <a:p>
            <a:pPr marL="457200" lvl="1" indent="0">
              <a:buSzPts val="2800"/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2C47A8-332F-4F81-807F-395CD1265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862" y="2003889"/>
            <a:ext cx="6667341" cy="24972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1332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1"/>
          <p:cNvSpPr txBox="1">
            <a:spLocks noGrp="1"/>
          </p:cNvSpPr>
          <p:nvPr>
            <p:ph type="title"/>
          </p:nvPr>
        </p:nvSpPr>
        <p:spPr>
          <a:xfrm>
            <a:off x="4207422" y="427269"/>
            <a:ext cx="5562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Roboto Slab"/>
              <a:buNone/>
            </a:pPr>
            <a:r>
              <a:rPr lang="en-US" sz="6600" dirty="0"/>
              <a:t>Practice</a:t>
            </a:r>
            <a:endParaRPr sz="6600" dirty="0"/>
          </a:p>
        </p:txBody>
      </p:sp>
      <p:grpSp>
        <p:nvGrpSpPr>
          <p:cNvPr id="541" name="Google Shape;541;p41"/>
          <p:cNvGrpSpPr/>
          <p:nvPr/>
        </p:nvGrpSpPr>
        <p:grpSpPr>
          <a:xfrm>
            <a:off x="3831049" y="2162059"/>
            <a:ext cx="4087832" cy="4007922"/>
            <a:chOff x="1477720" y="2232660"/>
            <a:chExt cx="2392680" cy="2392680"/>
          </a:xfrm>
        </p:grpSpPr>
        <p:pic>
          <p:nvPicPr>
            <p:cNvPr id="542" name="Google Shape;542;p41" descr="Bullsey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20520" y="2675320"/>
              <a:ext cx="1523440" cy="15234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41"/>
            <p:cNvSpPr/>
            <p:nvPr/>
          </p:nvSpPr>
          <p:spPr>
            <a:xfrm>
              <a:off x="1477720" y="2232660"/>
              <a:ext cx="2392680" cy="2392680"/>
            </a:xfrm>
            <a:prstGeom prst="ellipse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77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C41230"/>
      </a:dk1>
      <a:lt1>
        <a:srgbClr val="FAF9F7"/>
      </a:lt1>
      <a:dk2>
        <a:srgbClr val="C41230"/>
      </a:dk2>
      <a:lt2>
        <a:srgbClr val="FAF9F7"/>
      </a:lt2>
      <a:accent1>
        <a:srgbClr val="ECEDE2"/>
      </a:accent1>
      <a:accent2>
        <a:srgbClr val="941728"/>
      </a:accent2>
      <a:accent3>
        <a:srgbClr val="007B89"/>
      </a:accent3>
      <a:accent4>
        <a:srgbClr val="000000"/>
      </a:accent4>
      <a:accent5>
        <a:srgbClr val="262626"/>
      </a:accent5>
      <a:accent6>
        <a:srgbClr val="FFFFFF"/>
      </a:accent6>
      <a:hlink>
        <a:srgbClr val="007B89"/>
      </a:hlink>
      <a:folHlink>
        <a:srgbClr val="94172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6085</TotalTime>
  <Words>250</Words>
  <Application>Microsoft Macintosh PowerPoint</Application>
  <PresentationFormat>Widescreen</PresentationFormat>
  <Paragraphs>51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Courier New</vt:lpstr>
      <vt:lpstr>Arial</vt:lpstr>
      <vt:lpstr>Cambria Math</vt:lpstr>
      <vt:lpstr>Lato</vt:lpstr>
      <vt:lpstr>Roboto Slab</vt:lpstr>
      <vt:lpstr>Lato Light</vt:lpstr>
      <vt:lpstr>Wingdings</vt:lpstr>
      <vt:lpstr>Office Theme</vt:lpstr>
      <vt:lpstr>Module 0</vt:lpstr>
      <vt:lpstr>Python Basics</vt:lpstr>
      <vt:lpstr>Objects and Classes</vt:lpstr>
      <vt:lpstr>Example</vt:lpstr>
      <vt:lpstr>Attributes</vt:lpstr>
      <vt:lpstr>Making an Instance (Instantiate)</vt:lpstr>
      <vt:lpstr>Methods</vt:lpstr>
      <vt:lpstr>Methods</vt:lpstr>
      <vt:lpstr>Practice</vt:lpstr>
      <vt:lpstr>Linear Regression Example</vt:lpstr>
      <vt:lpstr>Linear Regression Example</vt:lpstr>
      <vt:lpstr>Linear Regression Example</vt:lpstr>
      <vt:lpstr>Linear Regression Example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</dc:title>
  <dc:creator>Orians, A.J.</dc:creator>
  <cp:lastModifiedBy>Martinez, Waldyn Gerardo</cp:lastModifiedBy>
  <cp:revision>86</cp:revision>
  <dcterms:modified xsi:type="dcterms:W3CDTF">2026-01-28T01:25:53Z</dcterms:modified>
</cp:coreProperties>
</file>